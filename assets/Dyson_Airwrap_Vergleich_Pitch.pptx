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645920"/>
            <a:ext cx="5029200" cy="5029200"/>
          </a:xfrm>
          <a:prstGeom prst="ellipse">
            <a:avLst/>
          </a:prstGeom>
          <a:solidFill>
            <a:srgbClr val="C97B94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4114800" cy="4114800"/>
          </a:xfrm>
          <a:prstGeom prst="ellipse">
            <a:avLst/>
          </a:prstGeom>
          <a:solidFill>
            <a:srgbClr val="C9A87C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5544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 PITCH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92024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i.d.™ oder Co-anda2x™?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640080" y="278892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Ein faktenbasierter Vergleich – für das Geschenk, das wirklich passt.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008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9A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Basierend auf technischen Daten, unabhängigen Tests und Kundenbewertungen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TECHNIK IM VERGLEICH · QUELLE: DYSON.DE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steckt wirklich drin.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3566160" y="16916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FBF3EF"/>
          </a:solidFill>
          <a:ln w="12700">
            <a:solidFill>
              <a:srgbClr val="F0DDE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56616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i.d.™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680960" y="1691640"/>
            <a:ext cx="3931920" cy="594360"/>
          </a:xfrm>
          <a:prstGeom prst="roundRect">
            <a:avLst>
              <a:gd name="adj" fmla="val 12308"/>
            </a:avLst>
          </a:prstGeom>
          <a:solidFill>
            <a:srgbClr val="C97B94"/>
          </a:solidFill>
          <a:ln w="19050">
            <a:solidFill>
              <a:srgbClr val="C9A87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0" y="1691640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Co-anda2x™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340864"/>
            <a:ext cx="10972800" cy="516636"/>
          </a:xfrm>
          <a:prstGeom prst="rect">
            <a:avLst/>
          </a:prstGeom>
          <a:solidFill>
            <a:srgbClr val="FBF3E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40864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566160" y="2340864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Hyperdymium™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110.000 U/min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80960" y="2340864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Hyperdymium™ 2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150.000 U/min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40080" y="2857500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Luftdruck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2857500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Referenzwert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680960" y="2857500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kPa – 2x höher als i.d.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40080" y="3374136"/>
            <a:ext cx="10972800" cy="516636"/>
          </a:xfrm>
          <a:prstGeom prst="rect">
            <a:avLst/>
          </a:prstGeom>
          <a:solidFill>
            <a:srgbClr val="FBF3EF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374136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Luftstrom (Volumen)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566160" y="3374136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13,5 l/s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7680960" y="3374136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l/s – kaum höher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0080" y="3890772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Leistungsaufnahme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566160" y="3890772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n.a. (dyson.de)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80960" y="3890772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1.700 W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4407408"/>
            <a:ext cx="10972800" cy="516636"/>
          </a:xfrm>
          <a:prstGeom prst="rect">
            <a:avLst/>
          </a:prstGeom>
          <a:solidFill>
            <a:srgbClr val="FBF3E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4407408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Gewicht (lt. dyson.de)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3566160" y="4407408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0,55 kg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7680960" y="4407408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0,71 kg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0080" y="4924044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Aufsatz-Erkennung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66160" y="4924044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Magnetisch + Bluetooth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80960" y="4924044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RFID-Chip pro Aufsatz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40080" y="5440680"/>
            <a:ext cx="10972800" cy="516636"/>
          </a:xfrm>
          <a:prstGeom prst="rect">
            <a:avLst/>
          </a:prstGeom>
          <a:solidFill>
            <a:srgbClr val="FBF3EF"/>
          </a:solidFill>
          <a:ln/>
        </p:spPr>
      </p:sp>
      <p:sp>
        <p:nvSpPr>
          <p:cNvPr id="30" name="Text 28"/>
          <p:cNvSpPr/>
          <p:nvPr/>
        </p:nvSpPr>
        <p:spPr>
          <a:xfrm>
            <a:off x="640080" y="5440680"/>
            <a:ext cx="274320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Zubehörteile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3566160" y="5440680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Stück (inkl. Reinigungsbürste)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680960" y="5440680"/>
            <a:ext cx="3931920" cy="5166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Stück (inkl. AirSmooth2x)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640080" y="6067044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200"/>
              </a:lnSpc>
              <a:buNone/>
            </a:pPr>
            <a:r>
              <a:rPr lang="en-US" sz="950" i="1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Hinweis: Gewichtsangabe laut technischen Daten auf dyson.de – widerspricht Dysons eigener Werbeaussage „leichtester Airwrap“ (die bezieht sich nur auf den Gerätekörper ohne Kabel/Zubehör).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B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E4B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BEWERTUNGEN · DYSON.DE + UNABHÄNGIGE TESTS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58952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Was Käuferinnen wirklich sagen.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F0DDE3"/>
            </a:solidFill>
            <a:prstDash val="solid"/>
          </a:ln>
          <a:effectLst>
            <a:outerShdw sx="100000" sy="100000" kx="0" ky="0" algn="bl" rotWithShape="0" blurRad="127000" dist="38100" dir="5400000">
              <a:srgbClr val="8E4B63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6012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i.d.™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9601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 / 5★  ·  4.007 Bewertungen  ·  51% Würden empfehlen (dyson.de)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960120" y="2404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2.333  ·  4★ 456  ·  3★ 328  ·  2★ 277  ·  1★ 613 (15,3%)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960120" y="2916936"/>
            <a:ext cx="182880" cy="182880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2825496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testbericht.de: Note „gut“ (88/100) – „Überzeugende Ergebnisse“ als Hauptstärke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960120" y="3666744"/>
            <a:ext cx="182880" cy="182880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11" name="Text 9"/>
          <p:cNvSpPr/>
          <p:nvPr/>
        </p:nvSpPr>
        <p:spPr>
          <a:xfrm>
            <a:off x="1261872" y="3575304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Netzwelt-Vergleichstest: präziser bei feinem/mittlerem Haar, wird beim Styling nicht durcheinandergewirbelt – im direkten Vergleich das „ordentlichere“ Ergebnis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960120" y="4416552"/>
            <a:ext cx="182880" cy="182880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13" name="Text 11"/>
          <p:cNvSpPr/>
          <p:nvPr/>
        </p:nvSpPr>
        <p:spPr>
          <a:xfrm>
            <a:off x="1261872" y="4325112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Dickere Rundbürste liefert im Test mehr Volumen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960120" y="5166360"/>
            <a:ext cx="182880" cy="182880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15" name="Text 13"/>
          <p:cNvSpPr/>
          <p:nvPr/>
        </p:nvSpPr>
        <p:spPr>
          <a:xfrm>
            <a:off x="1261872" y="5074920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Kritikpunkt (Netzwelt): recht laute Betriebsgeräusche, Frequenz kann auf Dauer nerven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1508760"/>
            <a:ext cx="5120640" cy="4526280"/>
          </a:xfrm>
          <a:prstGeom prst="roundRect">
            <a:avLst>
              <a:gd name="adj" fmla="val 2424"/>
            </a:avLst>
          </a:prstGeom>
          <a:solidFill>
            <a:srgbClr val="FBF0F3"/>
          </a:solidFill>
          <a:ln w="25400">
            <a:solidFill>
              <a:srgbClr val="C97B94"/>
            </a:solidFill>
            <a:prstDash val="solid"/>
          </a:ln>
          <a:effectLst>
            <a:outerShdw sx="100000" sy="100000" kx="0" ky="0" algn="bl" rotWithShape="0" blurRad="127000" dist="38100" dir="5400000">
              <a:srgbClr val="8E4B63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46520" y="173736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Co-anda2x™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446520" y="2103120"/>
            <a:ext cx="4480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 / 5★  ·  887 Bewertungen  ·  52% Würden empfehlen (dyson.de)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446520" y="2404872"/>
            <a:ext cx="4480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5★ 484  ·  4★ 98  ·  3★ 69  ·  2★ 62  ·  1★ 174 (19,6%)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446520" y="2916936"/>
            <a:ext cx="182880" cy="182880"/>
          </a:xfrm>
          <a:prstGeom prst="ellipse">
            <a:avLst/>
          </a:prstGeom>
          <a:solidFill>
            <a:srgbClr val="C97B94"/>
          </a:solidFill>
          <a:ln/>
        </p:spPr>
      </p:sp>
      <p:sp>
        <p:nvSpPr>
          <p:cNvPr id="21" name="Text 19"/>
          <p:cNvSpPr/>
          <p:nvPr/>
        </p:nvSpPr>
        <p:spPr>
          <a:xfrm>
            <a:off x="6748272" y="2825496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ELLE International Beauty Awards 2026: Auszeichnung in der Kategorie „Hair Styling“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46520" y="3666744"/>
            <a:ext cx="182880" cy="182880"/>
          </a:xfrm>
          <a:prstGeom prst="ellipse">
            <a:avLst/>
          </a:prstGeom>
          <a:solidFill>
            <a:srgbClr val="C97B94"/>
          </a:solidFill>
          <a:ln/>
        </p:spPr>
      </p:sp>
      <p:sp>
        <p:nvSpPr>
          <p:cNvPr id="23" name="Text 21"/>
          <p:cNvSpPr/>
          <p:nvPr/>
        </p:nvSpPr>
        <p:spPr>
          <a:xfrm>
            <a:off x="6748272" y="3575304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Netzwelt-Vergleichstest: „Stärkster Styler von allen“ – klarer Vorteil bei dickem, schwerem Haar; bei feinem Haar „kann das neue Modell zu viel des Guten sein“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4416552"/>
            <a:ext cx="182880" cy="182880"/>
          </a:xfrm>
          <a:prstGeom prst="ellipse">
            <a:avLst/>
          </a:prstGeom>
          <a:solidFill>
            <a:srgbClr val="C97B94"/>
          </a:solidFill>
          <a:ln/>
        </p:spPr>
      </p:sp>
      <p:sp>
        <p:nvSpPr>
          <p:cNvPr id="25" name="Text 23"/>
          <p:cNvSpPr/>
          <p:nvPr/>
        </p:nvSpPr>
        <p:spPr>
          <a:xfrm>
            <a:off x="6748272" y="4325112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91% berichten von gesund wirkendem Haar, 81% von weniger Frizz (Dyson-Nutzerbefragung, Okt./Nov. 2024)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46520" y="5166360"/>
            <a:ext cx="182880" cy="182880"/>
          </a:xfrm>
          <a:prstGeom prst="ellipse">
            <a:avLst/>
          </a:prstGeom>
          <a:solidFill>
            <a:srgbClr val="C97B94"/>
          </a:solidFill>
          <a:ln/>
        </p:spPr>
      </p:sp>
      <p:sp>
        <p:nvSpPr>
          <p:cNvPr id="27" name="Text 25"/>
          <p:cNvSpPr/>
          <p:nvPr/>
        </p:nvSpPr>
        <p:spPr>
          <a:xfrm>
            <a:off x="6748272" y="5074920"/>
            <a:ext cx="4178808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350"/>
              </a:lnSpc>
              <a:buNone/>
            </a:pPr>
            <a:r>
              <a:rPr lang="en-US" sz="1100" dirty="0">
                <a:solidFill>
                  <a:srgbClr val="3A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Kritikpunkt (Netzwelt): AirSmooth2x-Aufsatz glättet Wellen, ist für echte Naturlocken nicht ausreichend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6B7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A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828800"/>
            <a:ext cx="5486400" cy="5486400"/>
          </a:xfrm>
          <a:prstGeom prst="ellipse">
            <a:avLst/>
          </a:prstGeom>
          <a:solidFill>
            <a:srgbClr val="C97B94">
              <a:alpha val="2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8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ENTSCHEIDUNG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822960"/>
            <a:ext cx="10515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Welches Modell passt zu ihrem Haar?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640080" y="169164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4A2C3B"/>
          </a:solidFill>
          <a:ln w="12700">
            <a:solidFill>
              <a:srgbClr val="5C3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0120" y="1965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i.d.™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960120" y="23500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9A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präzise Wahl – höhere dyson.de-Bewertung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60120" y="3090672"/>
            <a:ext cx="201168" cy="201168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9" name="Text 7"/>
          <p:cNvSpPr/>
          <p:nvPr/>
        </p:nvSpPr>
        <p:spPr>
          <a:xfrm>
            <a:off x="1280160" y="29900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Feines bis mittleres Haar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60120" y="3657600"/>
            <a:ext cx="201168" cy="201168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11" name="Text 9"/>
          <p:cNvSpPr/>
          <p:nvPr/>
        </p:nvSpPr>
        <p:spPr>
          <a:xfrm>
            <a:off x="1280160" y="35570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3,9★ auf dyson.de, ordentlicheres Ergebnis im Test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960120" y="4224528"/>
            <a:ext cx="201168" cy="201168"/>
          </a:xfrm>
          <a:prstGeom prst="ellipse">
            <a:avLst/>
          </a:prstGeom>
          <a:solidFill>
            <a:srgbClr val="C9A87C"/>
          </a:solidFill>
          <a:ln/>
        </p:spPr>
      </p:sp>
      <p:sp>
        <p:nvSpPr>
          <p:cNvPr id="13" name="Text 11"/>
          <p:cNvSpPr/>
          <p:nvPr/>
        </p:nvSpPr>
        <p:spPr>
          <a:xfrm>
            <a:off x="1280160" y="41239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Etwas leichteres Investment (AUA)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126480" y="1691640"/>
            <a:ext cx="5120640" cy="3246120"/>
          </a:xfrm>
          <a:prstGeom prst="roundRect">
            <a:avLst>
              <a:gd name="adj" fmla="val 3380"/>
            </a:avLst>
          </a:prstGeom>
          <a:solidFill>
            <a:srgbClr val="C97B94"/>
          </a:solidFill>
          <a:ln w="25400">
            <a:solidFill>
              <a:srgbClr val="C9A87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1965960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Airwrap Co-anda2x™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6446520" y="2350008"/>
            <a:ext cx="44805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DEA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Die kraftvolle Wahl – stärkster Motor im Test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090672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6"/>
          <p:cNvSpPr/>
          <p:nvPr/>
        </p:nvSpPr>
        <p:spPr>
          <a:xfrm>
            <a:off x="6766560" y="2990088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Langes, dickes oder schweres Haar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446520" y="3657600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8"/>
          <p:cNvSpPr/>
          <p:nvPr/>
        </p:nvSpPr>
        <p:spPr>
          <a:xfrm>
            <a:off x="6766560" y="3557016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Stärkster Styler im direkten Testvergleich, ELLE Award 2026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446520" y="4224528"/>
            <a:ext cx="201168" cy="201168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6766560" y="4123944"/>
            <a:ext cx="416052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Höhere Investition (MEHR AUA)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0080" y="52578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6B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Modelle: 30 Tage Rückgaberecht direkt bei Dyson – kein Risiko, falls es doch nicht passt.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430000" y="64465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8D3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2026-08-19T20:29:32Z</dcterms:created>
  <dcterms:modified xsi:type="dcterms:W3CDTF">2026-08-19T20:29:32Z</dcterms:modified>
</cp:coreProperties>
</file>